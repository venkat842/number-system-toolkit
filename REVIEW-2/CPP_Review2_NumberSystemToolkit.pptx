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68" r:id="rId2"/>
    <p:sldId id="275" r:id="rId3"/>
    <p:sldId id="1764" r:id="rId4"/>
    <p:sldId id="1753" r:id="rId5"/>
    <p:sldId id="1754" r:id="rId6"/>
    <p:sldId id="1761" r:id="rId7"/>
    <p:sldId id="1763" r:id="rId8"/>
    <p:sldId id="1756" r:id="rId9"/>
    <p:sldId id="1762" r:id="rId10"/>
    <p:sldId id="1765" r:id="rId11"/>
    <p:sldId id="1757" r:id="rId12"/>
    <p:sldId id="1758" r:id="rId13"/>
    <p:sldId id="1759" r:id="rId14"/>
    <p:sldId id="17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>
      <p:cViewPr varScale="1">
        <p:scale>
          <a:sx n="99" d="100"/>
          <a:sy n="99" d="100"/>
        </p:scale>
        <p:origin x="192" y="4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17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26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428456"/>
            <a:ext cx="6019800" cy="101934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600200" y="789538"/>
            <a:ext cx="9448800" cy="564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00990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2800" b="1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Review - 2</a:t>
            </a:r>
          </a:p>
          <a:p>
            <a:pPr algn="ctr"/>
            <a:endParaRPr lang="en-US" sz="14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Number System Toolkit</a:t>
            </a:r>
            <a:endParaRPr lang="en-IN" sz="3200" b="1" dirty="0">
              <a:solidFill>
                <a:schemeClr val="tx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IN" sz="1200" b="1" dirty="0"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Department of Data Science</a:t>
            </a:r>
            <a:endParaRPr lang="en-US" sz="3600" b="1" dirty="0">
              <a:solidFill>
                <a:srgbClr val="0070C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endParaRPr lang="en-US" sz="1050" b="1" dirty="0">
              <a:solidFill>
                <a:srgbClr val="0070C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chemeClr val="accent1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 pitchFamily="18" charset="0"/>
              </a:rPr>
              <a:t>Presented By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Book Antiqua" panose="02040602050305030304" pitchFamily="18" charset="0"/>
                <a:cs typeface="Times New Roman" pitchFamily="18" charset="0"/>
              </a:rPr>
              <a:t>K. Veera Venkat Satyanarayana – 25B11DS260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Book Antiqua" panose="02040602050305030304" pitchFamily="18" charset="0"/>
                <a:cs typeface="Times New Roman" pitchFamily="18" charset="0"/>
              </a:rPr>
              <a:t>K. Dinesh – 25B11DS278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Book Antiqua" panose="02040602050305030304" pitchFamily="18" charset="0"/>
                <a:cs typeface="Times New Roman" pitchFamily="18" charset="0"/>
              </a:rPr>
              <a:t>U. Prasanth Kumar – 25B11DS371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Book Antiqua" panose="02040602050305030304" pitchFamily="18" charset="0"/>
                <a:cs typeface="Times New Roman" pitchFamily="18" charset="0"/>
              </a:rPr>
              <a:t>E. Sandeep – 25B11DS130</a:t>
            </a:r>
          </a:p>
          <a:p>
            <a:pPr algn="ctr"/>
            <a:endParaRPr lang="en-US" sz="1000" b="1" dirty="0"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Book Antiqua" panose="02040602050305030304" pitchFamily="18" charset="0"/>
                <a:cs typeface="Times New Roman" pitchFamily="18" charset="0"/>
              </a:rPr>
              <a:t>Under the Guidance of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Book Antiqua" panose="02040602050305030304" pitchFamily="18" charset="0"/>
                <a:cs typeface="Times New Roman" pitchFamily="18" charset="0"/>
              </a:rPr>
              <a:t>Ch. Bhanu Prakash, Assistant Professor</a:t>
            </a:r>
          </a:p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12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r"/>
            <a:r>
              <a:rPr lang="en-US" sz="2800" b="1" dirty="0">
                <a:solidFill>
                  <a:srgbClr val="0070C0"/>
                </a:solidFill>
                <a:latin typeface="Book Antiqua" panose="02040602050305030304" pitchFamily="18" charset="0"/>
                <a:cs typeface="Times New Roman" pitchFamily="18" charset="0"/>
              </a:rPr>
              <a:t>   </a:t>
            </a:r>
            <a:r>
              <a:rPr lang="en-US" sz="1400" dirty="0">
                <a:latin typeface="Centaur" panose="02030504050205020304" pitchFamily="18" charset="0"/>
                <a:cs typeface="Times New Roman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E5D-80D7-7E51-544E-45D0C5F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C3832E2-58BD-3420-3DB8-4D92A72E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5B70-FEA9-4F89-5CD9-3ECB13E5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D2F476-842F-6F48-36FC-0C6D8B2E55D0}"/>
              </a:ext>
            </a:extLst>
          </p:cNvPr>
          <p:cNvGrpSpPr/>
          <p:nvPr/>
        </p:nvGrpSpPr>
        <p:grpSpPr>
          <a:xfrm>
            <a:off x="3200400" y="0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75F019-FFE0-2FA4-7C9C-6AD0E352A43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B8A5548-836F-FE91-81C9-614A50D0FEC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509FE48-EB07-7A73-784D-E66E74453F4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5757B-8341-7E10-71A8-9D59EDC76EA2}"/>
                </a:ext>
              </a:extLst>
            </p:cNvPr>
            <p:cNvSpPr/>
            <p:nvPr/>
          </p:nvSpPr>
          <p:spPr>
            <a:xfrm>
              <a:off x="14859604" y="1582622"/>
              <a:ext cx="5635331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CONTENTS</a:t>
              </a:r>
            </a:p>
          </p:txBody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71D8395-8230-83C3-0DF5-9E6F2F91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88FD7-C2AB-4E40-DAAC-D0751F448619}"/>
              </a:ext>
            </a:extLst>
          </p:cNvPr>
          <p:cNvSpPr txBox="1"/>
          <p:nvPr/>
        </p:nvSpPr>
        <p:spPr>
          <a:xfrm>
            <a:off x="304800" y="1405483"/>
            <a:ext cx="12192000" cy="5432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Abstract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Problem Statement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Objectives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Existing and Proposed System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Related OOP’s concepts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List of Modules &amp; Explanation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 Implementation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Algorithm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Flowchart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100" dirty="0">
                <a:solidFill>
                  <a:srgbClr val="262626"/>
                </a:solidFill>
                <a:latin typeface="Times New Roman"/>
              </a:rPr>
              <a:t>Input &amp; Outputs Screenshots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endParaRPr lang="en-US" sz="2100" dirty="0">
              <a:solidFill>
                <a:srgbClr val="262626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989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AAB0-15B6-8080-5670-50869A1B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3C1B7E77-6002-EBB0-DDF7-C69655F7D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7DA1-BC78-B9DD-EE64-A9635E15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82AE6C-469F-B23A-94FC-1C52DDD8108D}"/>
              </a:ext>
            </a:extLst>
          </p:cNvPr>
          <p:cNvGrpSpPr/>
          <p:nvPr/>
        </p:nvGrpSpPr>
        <p:grpSpPr>
          <a:xfrm>
            <a:off x="3200400" y="0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E74485-8D64-EC24-C6A6-188036C3A94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AC9B1E55-843A-A6EE-5C8E-6CFA057C127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1749337-0F8B-8D49-FBFD-BDF79B62425F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FBC7FC-FAAE-9F7E-F263-A9FC284C50DD}"/>
                </a:ext>
              </a:extLst>
            </p:cNvPr>
            <p:cNvSpPr/>
            <p:nvPr/>
          </p:nvSpPr>
          <p:spPr>
            <a:xfrm>
              <a:off x="14859604" y="1582622"/>
              <a:ext cx="5635331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ABSTRACT</a:t>
              </a:r>
            </a:p>
          </p:txBody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351BC5F-5EF3-DBE9-D242-AE568FA9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405483"/>
            <a:ext cx="10972800" cy="2971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The Number System Toolkit is a menu-driven C++ console application that brings together three commonly needed utilities in one program: multi-base number conversion (Decimal, Binary, Octal and Hexadecimal), prime number verification, and palindrome detection for both numbers and words or phrases. A do-while driven main menu leads to dedicated Conversion and Checking sub-menus, and every input is validated before it is processed, so invalid digits or empty entries never crash the program. Internally, the toolkit is implemented as an object-oriented NumberSystemToolkit class that encapsulates all conversion, validation and checking logic behind a single public run() method, so the project demonstrates core C++ concepts - loops, functions and modular design - together with OOP principles such as encapsulation and abstraction, alongside robust input validation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386986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C7D6-B726-72E4-F743-FA8EC61C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A73081-F60E-9E12-B51F-5677EE8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6542-3A31-7A37-929C-FB4B6951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3A9260-4EC8-BCA8-142E-6C078E45AE40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227B774-D535-23FE-2D4C-285521973158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0BBFE965-D81A-E4C9-83A6-C366922247C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B5B454AF-C8DE-F318-F95F-5FF255A4A064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200434-7BC3-A330-5CEA-F24FEDABBCFE}"/>
                </a:ext>
              </a:extLst>
            </p:cNvPr>
            <p:cNvSpPr/>
            <p:nvPr/>
          </p:nvSpPr>
          <p:spPr>
            <a:xfrm>
              <a:off x="13951537" y="1582620"/>
              <a:ext cx="6543398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PROBLEM STATEMENT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5329CAA-6D27-E8CC-7747-87BA2C71D718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2CAE2E7-9ABB-DA77-F712-97BF6E18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789074"/>
            <a:ext cx="10972800" cy="2971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Manual conversion between decimal, binary, octal and hexadecimal is slow and error-prone when done by hand or with separate calculators.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Checking whether a number is prime, or whether a number or word is a palindrome, becomes tedious to verify manually for larger inputs.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Existing tools handle these operations separately, with no single interface and little or no validation of user input.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There is a need for one reliable, menu-driven program that performs all these checks, validates input, and reports results clearly.</a:t>
            </a:r>
          </a:p>
        </p:txBody>
      </p:sp>
    </p:spTree>
    <p:extLst>
      <p:ext uri="{BB962C8B-B14F-4D97-AF65-F5344CB8AC3E}">
        <p14:creationId xmlns:p14="http://schemas.microsoft.com/office/powerpoint/2010/main" val="267809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21FF-D2E5-AEDB-422C-2D1FA99F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2BEEE14-4478-F7C7-912B-C91C29A14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DA2C9-4C95-875A-3CC2-BFAFA78F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F5A8D-0D39-2ABA-8C57-0C6005F4DA69}"/>
              </a:ext>
            </a:extLst>
          </p:cNvPr>
          <p:cNvGrpSpPr/>
          <p:nvPr/>
        </p:nvGrpSpPr>
        <p:grpSpPr>
          <a:xfrm>
            <a:off x="2457451" y="-17206"/>
            <a:ext cx="7677149" cy="1324384"/>
            <a:chOff x="12174045" y="1407596"/>
            <a:chExt cx="7786188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CA7FE9-52CB-B7E2-B6F0-A56494A9B30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86DCEA5E-3CF4-8662-37CB-B4D18A4677F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D56DCE4-E2D3-1AE4-08C8-E1C06F05777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BFC2BD-5D07-100C-5AEF-44313C60B660}"/>
                </a:ext>
              </a:extLst>
            </p:cNvPr>
            <p:cNvSpPr/>
            <p:nvPr/>
          </p:nvSpPr>
          <p:spPr>
            <a:xfrm>
              <a:off x="12174045" y="1582620"/>
              <a:ext cx="7786188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OBJECTIVES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272" y="1187071"/>
            <a:ext cx="10363455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Design and implement a menu-driven C++ console application for number base conversion and numeric-property checking.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Provide accurate multi-base conversion between Decimal, Binary, Octal and Hexadecimal in both directions.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Implement reliable prime number and palindrome detection, for both numbers and words or phrases.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Enforce robust input validation and graceful error handling for every menu and user entry.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2000" dirty="0">
                <a:solidFill>
                  <a:srgbClr val="262626"/>
                </a:solidFill>
                <a:latin typeface="Times New Roman"/>
              </a:rPr>
              <a:t>Reinforce core programming concepts - loops, functions and object-oriented design - through a clean, modular, reusable class structure.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29F87E0-23AF-10A1-3851-D1492402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79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E897-EC2E-8511-EB0C-9EE9EDA6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B0451DEF-C3D8-A46C-7BA1-478CA3B19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C0253-CD43-7B94-EE86-191D8B1F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76CC5D-81ED-EB7B-446C-D1BA2DF0AE8D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D221D2C-00EA-B6EA-5F50-7D5586A65B50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9E186D9-9C23-5D52-4B16-4D28D249DE6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EE5B23C-3D83-2ED9-D3E3-EAC615413E26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48BD4E-AC44-6D4D-0A2E-A29275DD0013}"/>
                </a:ext>
              </a:extLst>
            </p:cNvPr>
            <p:cNvSpPr/>
            <p:nvPr/>
          </p:nvSpPr>
          <p:spPr>
            <a:xfrm>
              <a:off x="13391240" y="1582620"/>
              <a:ext cx="7103695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EXISTING &amp; PROPOSED SYSTEM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76E825F-3703-FD27-6AC1-54B0B3394CAF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47286B3-5DF1-BE99-7F5D-49E41934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7F965-5626-B96E-A40E-FFE6BC9B795A}"/>
              </a:ext>
            </a:extLst>
          </p:cNvPr>
          <p:cNvSpPr txBox="1"/>
          <p:nvPr/>
        </p:nvSpPr>
        <p:spPr>
          <a:xfrm>
            <a:off x="-609600" y="1641902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>
                <a:solidFill>
                  <a:srgbClr val="12416E"/>
                </a:solidFill>
                <a:latin typeface="Aptos"/>
              </a:rPr>
              <a:t>EXISTING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90B87-A014-7E07-FB9A-B8B4E42CEF2B}"/>
              </a:ext>
            </a:extLst>
          </p:cNvPr>
          <p:cNvSpPr txBox="1"/>
          <p:nvPr/>
        </p:nvSpPr>
        <p:spPr>
          <a:xfrm>
            <a:off x="6206544" y="1597730"/>
            <a:ext cx="6400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>
                <a:solidFill>
                  <a:srgbClr val="12416E"/>
                </a:solidFill>
                <a:latin typeface="Aptos"/>
              </a:rPr>
              <a:t>PROPOSED SYSTEM</a:t>
            </a:r>
          </a:p>
        </p:txBody>
      </p:sp>
      <p:sp>
        <p:nvSpPr>
          <p:cNvPr id="20" name="Existing Content"/>
          <p:cNvSpPr txBox="1"/>
          <p:nvPr/>
        </p:nvSpPr>
        <p:spPr>
          <a:xfrm>
            <a:off x="533400" y="2286000"/>
            <a:ext cx="5400000" cy="3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Conversions done manually or with separate calculators/websites for each number base.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No integrated way to check primality or palindromes alongside conversions.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Little to no input validation - invalid entries can crash or silently mislead the user.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Scattered, procedural code with no clear structure or reusability.</a:t>
            </a:r>
          </a:p>
        </p:txBody>
      </p:sp>
      <p:sp>
        <p:nvSpPr>
          <p:cNvPr id="21" name="Proposed Content"/>
          <p:cNvSpPr txBox="1"/>
          <p:nvPr/>
        </p:nvSpPr>
        <p:spPr>
          <a:xfrm>
            <a:off x="6248400" y="2286000"/>
            <a:ext cx="5400000" cy="3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Single menu-driven C++ application that performs conversion, prime and palindrome checks together.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A do-while driven menu lets the user repeat any operation without restarting the program.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Strong input validation rejects invalid digits/characters before further processing.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Implemented as an object-oriented NumberSystemToolkit class (encapsulation &amp; abstraction) for cleaner, modular, reusable code.</a:t>
            </a:r>
          </a:p>
        </p:txBody>
      </p:sp>
    </p:spTree>
    <p:extLst>
      <p:ext uri="{BB962C8B-B14F-4D97-AF65-F5344CB8AC3E}">
        <p14:creationId xmlns:p14="http://schemas.microsoft.com/office/powerpoint/2010/main" val="36483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159E-E66E-E622-08AB-E9383DE8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B448D42-EC1D-6872-58DD-E5293D2AB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C7711-C9A4-67A6-0FBD-47291A07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00FAA3-755E-E710-6E49-CC8FCDA12009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0EBCD0-2E81-FC72-9715-B747940DB8D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912A0C8-DAC5-6DAB-52D0-5842BF8E649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177853FC-AEA0-83BB-6D48-70827E26BE8D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DE4A7A-6A60-ACD4-FEF0-E410BA59AE87}"/>
                </a:ext>
              </a:extLst>
            </p:cNvPr>
            <p:cNvSpPr/>
            <p:nvPr/>
          </p:nvSpPr>
          <p:spPr>
            <a:xfrm>
              <a:off x="13391240" y="1582620"/>
              <a:ext cx="7103695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  RELATED OOP’S CONCEPTS 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E4D0D1C-EFCD-7DD4-8A57-CC38FC533EB0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AA6AF0E-E44C-A9BE-77E5-169B41D5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400000"/>
            <a:ext cx="109728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900" b="1" dirty="0">
                <a:solidFill>
                  <a:srgbClr val="12416E"/>
                </a:solidFill>
                <a:latin typeface="Aptos"/>
              </a:rPr>
              <a:t>Though compact, the toolkit is built around real OOP fundamentals:</a:t>
            </a:r>
          </a:p>
        </p:txBody>
      </p:sp>
      <p:sp>
        <p:nvSpPr>
          <p:cNvPr id="22" name="OOP Concepts"/>
          <p:cNvSpPr txBox="1"/>
          <p:nvPr/>
        </p:nvSpPr>
        <p:spPr>
          <a:xfrm>
            <a:off x="914400" y="2100000"/>
            <a:ext cx="10363200" cy="3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900" b="1" dirty="0">
                <a:solidFill>
                  <a:srgbClr val="262626"/>
                </a:solidFill>
                <a:latin typeface="Times New Roman"/>
              </a:rPr>
              <a:t>Class &amp; Object - </a:t>
            </a:r>
            <a:r>
              <a:rPr lang="en-US" sz="1900" dirty="0">
                <a:solidFill>
                  <a:srgbClr val="262626"/>
                </a:solidFill>
                <a:latin typeface="Times New Roman"/>
              </a:rPr>
              <a:t>All toolkit functionality is wrapped inside a single NumberSystemToolkit class; main() creates one object and calls its run() method to start the program.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900" b="1" dirty="0">
                <a:solidFill>
                  <a:srgbClr val="262626"/>
                </a:solidFill>
                <a:latin typeface="Times New Roman"/>
              </a:rPr>
              <a:t>Encapsulation - </a:t>
            </a:r>
            <a:r>
              <a:rPr lang="en-US" sz="1900" dirty="0">
                <a:solidFill>
                  <a:srgbClr val="262626"/>
                </a:solidFill>
                <a:latin typeface="Times New Roman"/>
              </a:rPr>
              <a:t>Every conversion, validation and checking function (decimalToBinaryValue, isPrime, isPalindromeString, etc.) is declared private, so internal data and logic are hidden from outside code.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900" b="1" dirty="0">
                <a:solidFill>
                  <a:srgbClr val="262626"/>
                </a:solidFill>
                <a:latin typeface="Times New Roman"/>
              </a:rPr>
              <a:t>Abstraction - </a:t>
            </a:r>
            <a:r>
              <a:rPr lang="en-US" sz="1900" dirty="0">
                <a:solidFill>
                  <a:srgbClr val="262626"/>
                </a:solidFill>
                <a:latin typeface="Times New Roman"/>
              </a:rPr>
              <a:t>The class exposes only one public method, run(). The caller does not need to know how conversions or checks are implemented internally - it only needs to call run().</a:t>
            </a:r>
          </a:p>
        </p:txBody>
      </p:sp>
    </p:spTree>
    <p:extLst>
      <p:ext uri="{BB962C8B-B14F-4D97-AF65-F5344CB8AC3E}">
        <p14:creationId xmlns:p14="http://schemas.microsoft.com/office/powerpoint/2010/main" val="114238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E1F6-9295-763B-D7A9-4C2FCD75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3772CCED-E0F1-BC42-A844-051984FE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70248-DF07-AC8A-570E-923F794B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7CDF90-AB2C-9685-3FC4-66FA81DAD9B1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21B160-5BFD-B98B-B1FD-6D3ABC74BD0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62542A39-10A7-2623-79C7-7540572EFD8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0CDC49EA-BCCC-49EF-7AC2-8E3F49F685E7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E06B55-EDA2-86D3-1F73-41292193B05C}"/>
                </a:ext>
              </a:extLst>
            </p:cNvPr>
            <p:cNvSpPr/>
            <p:nvPr/>
          </p:nvSpPr>
          <p:spPr>
            <a:xfrm>
              <a:off x="13185154" y="1582620"/>
              <a:ext cx="7309781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LIST OF MODULES with Explanation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A50B2F-8D70-41DD-B520-DC4B6580C447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9FECC98-4309-A740-C212-A6D7F2C7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690062"/>
            <a:ext cx="11277855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Four cooperating modules, each built from small, reusable functions:</a:t>
            </a:r>
          </a:p>
        </p:txBody>
      </p:sp>
      <p:sp>
        <p:nvSpPr>
          <p:cNvPr id="23" name="Modules"/>
          <p:cNvSpPr txBox="1"/>
          <p:nvPr/>
        </p:nvSpPr>
        <p:spPr>
          <a:xfrm>
            <a:off x="609600" y="2250000"/>
            <a:ext cx="6400800" cy="4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600" b="1" dirty="0">
                <a:solidFill>
                  <a:srgbClr val="262626"/>
                </a:solidFill>
                <a:latin typeface="Times New Roman"/>
              </a:rPr>
              <a:t>Menu Module - 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run(), showMenu(). Drives the do-while main loop and dispatches to the right sub-menu.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600" b="1" dirty="0">
                <a:solidFill>
                  <a:srgbClr val="262626"/>
                </a:solidFill>
                <a:latin typeface="Times New Roman"/>
              </a:rPr>
              <a:t>Conversion Module - 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conversionMenu() plus decimalToBinaryValue/Octal/Hex and binaryToDecimal/octalToDecimal/hexToDecimal.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600" b="1" dirty="0">
                <a:solidFill>
                  <a:srgbClr val="262626"/>
                </a:solidFill>
                <a:latin typeface="Times New Roman"/>
              </a:rPr>
              <a:t>Checking Module - 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checkingMenu() plus isPrime(), isPalindrome() and isPalindromeString().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600" b="1" dirty="0">
                <a:solidFill>
                  <a:srgbClr val="262626"/>
                </a:solidFill>
                <a:latin typeface="Times New Roman"/>
              </a:rPr>
              <a:t>Validation Module - 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getValidInt(), isValidBinary(), isValidOctal(), isValidHex() guard every input.</a:t>
            </a:r>
          </a:p>
        </p:txBody>
      </p:sp>
      <p:pic>
        <p:nvPicPr>
          <p:cNvPr id="24" name="Conversion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000" y="2350000"/>
            <a:ext cx="5400000" cy="360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2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2299-33DF-DBE6-DBDE-6EF5BD0D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6BD85EF-999C-2548-4AAB-A1542504F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6F27B-16E2-679E-3595-9175336D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AD145C-4C76-DAF6-459A-03412D973681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8B2EE64-5A61-DA5A-5443-0B1A0B5FEE66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DA6D788-7DFE-AB29-1761-98E9F8528B5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9128BD9-52C2-03D4-B3E8-E0CADA90AA9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BC4967-1E4D-1907-59D3-54039A865095}"/>
                </a:ext>
              </a:extLst>
            </p:cNvPr>
            <p:cNvSpPr/>
            <p:nvPr/>
          </p:nvSpPr>
          <p:spPr>
            <a:xfrm>
              <a:off x="13951537" y="1582620"/>
              <a:ext cx="6543398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        IMPLEMENTATION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1E7A4-CFE6-9655-6CAA-996A442468C8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6DF3EAA-B67D-717C-4C7D-2731CC86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690062"/>
            <a:ext cx="11277855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Core menu dispatch and checking functions from the NumberSystemToolkit class:</a:t>
            </a:r>
          </a:p>
        </p:txBody>
      </p:sp>
      <p:sp>
        <p:nvSpPr>
          <p:cNvPr id="30" name="Code Panel Left"/>
          <p:cNvSpPr/>
          <p:nvPr/>
        </p:nvSpPr>
        <p:spPr>
          <a:xfrm>
            <a:off x="457200" y="2150000"/>
            <a:ext cx="5486400" cy="4450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ode Panel Right"/>
          <p:cNvSpPr/>
          <p:nvPr/>
        </p:nvSpPr>
        <p:spPr>
          <a:xfrm>
            <a:off x="6248400" y="2150000"/>
            <a:ext cx="5486400" cy="4450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ode Left"/>
          <p:cNvSpPr txBox="1"/>
          <p:nvPr/>
        </p:nvSpPr>
        <p:spPr>
          <a:xfrm>
            <a:off x="640000" y="2250000"/>
            <a:ext cx="5120000" cy="425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void NumberSystemToolkit::run() {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int choice;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do {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showMenu();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choice = getValidInt(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  "Enter your choice: ");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switch (choice) {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case 1: conversionMenu();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        break;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case 2: checkingMenu();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        break;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case 3: cout &lt;&lt; "Thank you!";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}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} while (choice != 3);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3" name="Code Right"/>
          <p:cNvSpPr txBox="1"/>
          <p:nvPr/>
        </p:nvSpPr>
        <p:spPr>
          <a:xfrm>
            <a:off x="6431400" y="2250000"/>
            <a:ext cx="5120000" cy="425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bool NumberSystemToolkit::isPrime(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long long n) {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if (n &lt; 2) return false;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for (long long i = 2;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 i &lt;= sqrt(n); i++)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if (n % i == 0) return false;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return true;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/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bool NumberSystemToolkit::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isPalindromeString(string s) {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string clean;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for (char c : s)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if (isalnum((unsigned char)c))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clean += tolower(c);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int l = 0, r = clean.size()-1;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while (l &lt; r)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if (clean[l++] != clean[r--])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    return false;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  return true;</a:t>
            </a:r>
          </a:p>
          <a:p>
            <a:pPr marL="0" indent="0">
              <a:lnSpc>
                <a:spcPct val="100000"/>
              </a:lnSpc>
            </a:pPr>
            <a:r>
              <a:rPr lang="en-US" sz="11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247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4C25-A749-1073-1AD0-20B3997B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E2163B3-24D4-BD5F-44A0-55E8BF877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1EA4C-867B-3CDB-1920-84057EC4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3443ED-D15C-3284-1DE2-60E8B50A610E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BC958A-3651-07FE-6BCC-24B9AD8E8155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5F92074-53DA-45D0-35B3-1DF16F18A75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BFC01EF9-C33E-1870-7333-64B5D6A4090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7BB68C-16B9-8E36-0DF8-E3878A242EA2}"/>
                </a:ext>
              </a:extLst>
            </p:cNvPr>
            <p:cNvSpPr/>
            <p:nvPr/>
          </p:nvSpPr>
          <p:spPr>
            <a:xfrm>
              <a:off x="13951537" y="1582620"/>
              <a:ext cx="6543398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            ALGORITHM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D71BEDE-2697-5957-1B73-49C741D46F48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93D4B6C-2BB7-1F58-AEE1-5223AEEE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690062"/>
            <a:ext cx="11277855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Step-by-step logic behind the two core operations:</a:t>
            </a:r>
          </a:p>
        </p:txBody>
      </p:sp>
      <p:sp>
        <p:nvSpPr>
          <p:cNvPr id="34" name="Algo Header Left"/>
          <p:cNvSpPr txBox="1"/>
          <p:nvPr/>
        </p:nvSpPr>
        <p:spPr>
          <a:xfrm>
            <a:off x="533400" y="2150000"/>
            <a:ext cx="54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 b="1" dirty="0">
                <a:solidFill>
                  <a:srgbClr val="12416E"/>
                </a:solidFill>
                <a:latin typeface="Aptos"/>
              </a:rPr>
              <a:t>Number Base Conversion</a:t>
            </a:r>
          </a:p>
        </p:txBody>
      </p:sp>
      <p:sp>
        <p:nvSpPr>
          <p:cNvPr id="35" name="Algo Header Right"/>
          <p:cNvSpPr txBox="1"/>
          <p:nvPr/>
        </p:nvSpPr>
        <p:spPr>
          <a:xfrm>
            <a:off x="6248400" y="2150000"/>
            <a:ext cx="54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 b="1" dirty="0">
                <a:solidFill>
                  <a:srgbClr val="12416E"/>
                </a:solidFill>
                <a:latin typeface="Aptos"/>
              </a:rPr>
              <a:t>Prime &amp; Palindrome Checking</a:t>
            </a:r>
          </a:p>
        </p:txBody>
      </p:sp>
      <p:sp>
        <p:nvSpPr>
          <p:cNvPr id="36" name="Algo Steps Left"/>
          <p:cNvSpPr txBox="1"/>
          <p:nvPr/>
        </p:nvSpPr>
        <p:spPr>
          <a:xfrm>
            <a:off x="533400" y="2750000"/>
            <a:ext cx="5400000" cy="3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1. Repeatedly divide the number by the target base (2, 8 or 16).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2. Record the remainder produced at each division step.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3. Continue dividing until the quotient becomes 0.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4. Arrange the collected remainders in reverse order to form the result.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5. For the reverse direction, validate each digit, then multiply by the base raised to its position and sum the values.</a:t>
            </a:r>
          </a:p>
        </p:txBody>
      </p:sp>
      <p:sp>
        <p:nvSpPr>
          <p:cNvPr id="37" name="Algo Steps Right"/>
          <p:cNvSpPr txBox="1"/>
          <p:nvPr/>
        </p:nvSpPr>
        <p:spPr>
          <a:xfrm>
            <a:off x="6248400" y="2750000"/>
            <a:ext cx="5400000" cy="3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1. Prime: if n &lt; 2, it is not prime.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2. Test divisibility of n for every i from 2 up to √n.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3. If any i divides n evenly, n is not prime; otherwise it is prime.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4. Palindrome (number): reverse the digits and compare to the original n.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Clr>
                <a:srgbClr val="1F4E79"/>
              </a:buClr>
              <a:buFont typeface="Arial"/>
              <a:buChar char="▪"/>
            </a:pPr>
            <a:r>
              <a:rPr lang="en-US" sz="1700" dirty="0">
                <a:solidFill>
                  <a:srgbClr val="262626"/>
                </a:solidFill>
                <a:latin typeface="Times New Roman"/>
              </a:rPr>
              <a:t>5. Palindrome (phrase): strip non-alphanumeric characters, lowercase the rest, then compare it to its own reverse.</a:t>
            </a:r>
          </a:p>
        </p:txBody>
      </p:sp>
    </p:spTree>
    <p:extLst>
      <p:ext uri="{BB962C8B-B14F-4D97-AF65-F5344CB8AC3E}">
        <p14:creationId xmlns:p14="http://schemas.microsoft.com/office/powerpoint/2010/main" val="15195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D7B6D-ECB2-AF35-04A9-C3492FAF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801E0F7-CD28-FF3D-E0AB-BFAF78FC2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D92A6-59FB-78A0-44EC-AB9F42D0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B3189F-03E5-971B-9954-E10EB1B4F843}"/>
              </a:ext>
            </a:extLst>
          </p:cNvPr>
          <p:cNvGrpSpPr/>
          <p:nvPr/>
        </p:nvGrpSpPr>
        <p:grpSpPr>
          <a:xfrm>
            <a:off x="3276600" y="-17206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25F1451-CD3B-B522-29FC-B2CA69475C6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DFE5CA2-8EC1-8DD4-2BF6-11129990161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F4565A3-56C1-D5B8-8C74-9EFC6206F881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0555C7-870C-EAEC-A799-689E230CFBA0}"/>
                </a:ext>
              </a:extLst>
            </p:cNvPr>
            <p:cNvSpPr/>
            <p:nvPr/>
          </p:nvSpPr>
          <p:spPr>
            <a:xfrm>
              <a:off x="13951537" y="1582620"/>
              <a:ext cx="6543398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              FLOWCHART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9E6473C-173E-F5E5-116D-96362CD091A7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AFF4D5E-68C4-0D5F-983E-0BFC2F8E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pic>
        <p:nvPicPr>
          <p:cNvPr id="40" name="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548" y="1750000"/>
            <a:ext cx="5862904" cy="4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C97-2834-F0A0-789E-266DA10C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C19CAF4-EBD2-341B-83FF-68F91AEC0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4325-0507-F451-29A5-CEDE8C12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0DCD58-E340-30FD-12D1-26473EAA906C}"/>
              </a:ext>
            </a:extLst>
          </p:cNvPr>
          <p:cNvGrpSpPr/>
          <p:nvPr/>
        </p:nvGrpSpPr>
        <p:grpSpPr>
          <a:xfrm>
            <a:off x="3276600" y="-17206"/>
            <a:ext cx="7385214" cy="1324384"/>
            <a:chOff x="13004829" y="1407596"/>
            <a:chExt cx="749010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6F4A0A-606B-5D0A-DAD9-983D9208513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9B1AA3B-0A3A-E991-B1C8-8CDC2770B9F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D5435BA-E3A9-FF01-4CF4-6AAF3EEDC37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CA7A5C-313C-79E7-8A04-CF4B9656EF07}"/>
                </a:ext>
              </a:extLst>
            </p:cNvPr>
            <p:cNvSpPr/>
            <p:nvPr/>
          </p:nvSpPr>
          <p:spPr>
            <a:xfrm>
              <a:off x="13230976" y="1582620"/>
              <a:ext cx="7263960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INPUT &amp; OUTPUT SCREENSHOTS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D72B705-9AE8-B85E-659A-2584DB1C8845}"/>
              </a:ext>
            </a:extLst>
          </p:cNvPr>
          <p:cNvSpPr txBox="1"/>
          <p:nvPr/>
        </p:nvSpPr>
        <p:spPr>
          <a:xfrm>
            <a:off x="-1219328" y="601708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9274FA7-7EB4-892D-ECEE-0F3F0DA7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pic>
        <p:nvPicPr>
          <p:cNvPr id="41" name="Prime Palindrom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50000"/>
            <a:ext cx="5400000" cy="2942448"/>
          </a:xfrm>
          <a:prstGeom prst="rect">
            <a:avLst/>
          </a:prstGeom>
        </p:spPr>
      </p:pic>
      <p:pic>
        <p:nvPicPr>
          <p:cNvPr id="42" name="Palindrome Phras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600" y="2050000"/>
            <a:ext cx="5400000" cy="2281224"/>
          </a:xfrm>
          <a:prstGeom prst="rect">
            <a:avLst/>
          </a:prstGeom>
        </p:spPr>
      </p:pic>
      <p:sp>
        <p:nvSpPr>
          <p:cNvPr id="43" name="Caption Left"/>
          <p:cNvSpPr txBox="1"/>
          <p:nvPr/>
        </p:nvSpPr>
        <p:spPr>
          <a:xfrm>
            <a:off x="533400" y="5072448"/>
            <a:ext cx="54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500" dirty="0">
                <a:solidFill>
                  <a:srgbClr val="262626"/>
                </a:solidFill>
                <a:latin typeface="Times New Roman"/>
              </a:rPr>
              <a:t>Prime &amp; palindrome number checks</a:t>
            </a:r>
          </a:p>
        </p:txBody>
      </p:sp>
      <p:sp>
        <p:nvSpPr>
          <p:cNvPr id="44" name="Caption Right"/>
          <p:cNvSpPr txBox="1"/>
          <p:nvPr/>
        </p:nvSpPr>
        <p:spPr>
          <a:xfrm>
            <a:off x="6258600" y="4411224"/>
            <a:ext cx="54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500" dirty="0">
                <a:solidFill>
                  <a:srgbClr val="262626"/>
                </a:solidFill>
                <a:latin typeface="Times New Roman"/>
              </a:rPr>
              <a:t>Palindrome word/phrase check (new feature)</a:t>
            </a:r>
          </a:p>
        </p:txBody>
      </p:sp>
    </p:spTree>
    <p:extLst>
      <p:ext uri="{BB962C8B-B14F-4D97-AF65-F5344CB8AC3E}">
        <p14:creationId xmlns:p14="http://schemas.microsoft.com/office/powerpoint/2010/main" val="307380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5D890-308E-4ADA-0011-5E2C27E6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3578069F-FD14-0F8E-CAA3-639593206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2600" cy="68156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DA460-6276-5809-72FF-90C2DEDB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F17A9-2033-7D73-AF65-C00A844186E2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50F1FC9-CF8A-0698-2AF0-81DF81CA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pic>
        <p:nvPicPr>
          <p:cNvPr id="2" name="Picture 2" descr="Any Questions Ppt PowerPoint Presentation Inspiration Example File Slide01">
            <a:extLst>
              <a:ext uri="{FF2B5EF4-FFF2-40B4-BE49-F238E27FC236}">
                <a16:creationId xmlns:a16="http://schemas.microsoft.com/office/drawing/2014/main" id="{B19436E7-3A14-CD91-5559-AAA991808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5" b="18889"/>
          <a:stretch/>
        </p:blipFill>
        <p:spPr bwMode="auto">
          <a:xfrm>
            <a:off x="1371600" y="1666962"/>
            <a:ext cx="9144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692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93B4-476E-4154-126D-572E4D94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31CC09E-5F2B-127E-B959-E43EC824D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2600" cy="68156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AB44-824C-CCD8-D722-2CC90E43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6A896-D659-EBC1-F511-984ED3D00C70}"/>
              </a:ext>
            </a:extLst>
          </p:cNvPr>
          <p:cNvSpPr txBox="1"/>
          <p:nvPr/>
        </p:nvSpPr>
        <p:spPr>
          <a:xfrm>
            <a:off x="914400" y="685800"/>
            <a:ext cx="1036345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/>
            <a:endParaRPr lang="en-US" sz="2000" dirty="0">
              <a:latin typeface="Book Antiqua" panose="0204060205030503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6CF191F-E366-D58E-A9E3-1927D584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September 2026</a:t>
            </a:fld>
            <a:endParaRPr lang="en-US" dirty="0"/>
          </a:p>
        </p:txBody>
      </p:sp>
      <p:pic>
        <p:nvPicPr>
          <p:cNvPr id="3" name="Picture 2" descr="Kulanz kann dauerhaft zur Zahlung verpflichten » AGENTIN">
            <a:extLst>
              <a:ext uri="{FF2B5EF4-FFF2-40B4-BE49-F238E27FC236}">
                <a16:creationId xmlns:a16="http://schemas.microsoft.com/office/drawing/2014/main" id="{CAB12B53-49A4-9B69-92A3-563B5C4DE8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78"/>
          <a:stretch/>
        </p:blipFill>
        <p:spPr bwMode="auto">
          <a:xfrm>
            <a:off x="3794489" y="1667831"/>
            <a:ext cx="4603021" cy="23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136233-8172-A16B-7911-98FFDEBFF855}"/>
              </a:ext>
            </a:extLst>
          </p:cNvPr>
          <p:cNvSpPr txBox="1"/>
          <p:nvPr/>
        </p:nvSpPr>
        <p:spPr>
          <a:xfrm>
            <a:off x="3046708" y="4344377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69303">
              <a:spcBef>
                <a:spcPct val="0"/>
              </a:spcBef>
              <a:spcAft>
                <a:spcPts val="238"/>
              </a:spcAft>
            </a:pPr>
            <a:r>
              <a:rPr lang="en-US" sz="360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erlin Sans FB" panose="020E0602020502020306" pitchFamily="34" charset="0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907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184</Words>
  <Application>Microsoft Macintosh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Berlin Sans FB</vt:lpstr>
      <vt:lpstr>Book Antiqua</vt:lpstr>
      <vt:lpstr>Calibri</vt:lpstr>
      <vt:lpstr>Centaur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Chilli Bhanu Prakash</cp:lastModifiedBy>
  <cp:revision>70</cp:revision>
  <dcterms:created xsi:type="dcterms:W3CDTF">2006-08-16T00:00:00Z</dcterms:created>
  <dcterms:modified xsi:type="dcterms:W3CDTF">2026-09-26T11:30:48Z</dcterms:modified>
</cp:coreProperties>
</file>